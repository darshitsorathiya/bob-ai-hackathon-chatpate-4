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9560" y="2971800"/>
            <a:ext cx="914400" cy="914400"/>
          </a:xfrm>
          <a:prstGeom prst="ellipse">
            <a:avLst/>
          </a:prstGeom>
          <a:noFill/>
          <a:ln w="889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8100" y="2720340"/>
            <a:ext cx="1417320" cy="1417320"/>
          </a:xfrm>
          <a:prstGeom prst="ellipse">
            <a:avLst/>
          </a:prstGeom>
          <a:noFill/>
          <a:ln w="889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06640" y="2468880"/>
            <a:ext cx="1920240" cy="1920240"/>
          </a:xfrm>
          <a:prstGeom prst="ellipse">
            <a:avLst/>
          </a:prstGeom>
          <a:noFill/>
          <a:ln w="889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366760" y="2194560"/>
            <a:ext cx="1234440" cy="1234440"/>
          </a:xfrm>
          <a:prstGeom prst="line">
            <a:avLst/>
          </a:prstGeom>
          <a:ln w="12700">
            <a:solidFill>
              <a:srgbClr val="1E3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evron 6"/>
          <p:cNvSpPr/>
          <p:nvPr/>
        </p:nvSpPr>
        <p:spPr>
          <a:xfrm>
            <a:off x="8229600" y="3246120"/>
            <a:ext cx="1188720" cy="384048"/>
          </a:xfrm>
          <a:prstGeom prst="chevron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8549640" y="2880360"/>
            <a:ext cx="502920" cy="1051560"/>
          </a:xfrm>
          <a:prstGeom prst="triangle">
            <a:avLst/>
          </a:prstGeom>
          <a:solidFill>
            <a:srgbClr val="4A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7040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3FD3EB"/>
                </a:solidFill>
                <a:latin typeface="Aptos Mono"/>
              </a:rPr>
              <a:t>AI-ASSISTED MISSION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7680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E8F2FA"/>
                </a:solidFill>
                <a:latin typeface="Aptos"/>
              </a:rPr>
              <a:t>MissionReady
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7180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97ADC3"/>
                </a:solidFill>
                <a:latin typeface="Aptos"/>
              </a:rPr>
              <a:t>Mission Readiness &amp; Predictive Maintenance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794760"/>
            <a:ext cx="105156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4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831336"/>
            <a:ext cx="978407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4A89FF"/>
                </a:solidFill>
                <a:latin typeface="Aptos Mono"/>
              </a:rPr>
              <a:t>TRACK: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3794760"/>
            <a:ext cx="169164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104" y="3831336"/>
            <a:ext cx="161848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3FD3EB"/>
                </a:solidFill>
                <a:latin typeface="Aptos Mono"/>
              </a:rPr>
              <a:t>PROBLEM STATEMENT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83480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TEAM  /  CHATPATE-4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330952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E8F2FA"/>
                </a:solidFill>
                <a:latin typeface="Aptos"/>
              </a:rPr>
              <a:t>Darshit  •  Tulsi  •  Mahi  •  Shreyan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89788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97ADC3"/>
                </a:solidFill>
                <a:latin typeface="Aptos Mono"/>
              </a:rPr>
              <a:t>READINESS IS A DECISION, NOT A GUESS.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The readiness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Maintenance schedules alone do not reveal the full operational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12080" cy="425196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FD3EB"/>
                </a:solidFill>
                <a:latin typeface="Aptos Mono"/>
              </a:rPr>
              <a:t>WHAT HAPPENS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480560" cy="2103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8F2FA"/>
                </a:solidFill>
                <a:latin typeface="Aptos"/>
              </a:defRPr>
            </a:pPr>
            <a:r>
              <a:t>• Maintenance is often schedule-based.</a:t>
            </a:r>
          </a:p>
          <a:p>
            <a:pPr>
              <a:spcAft>
                <a:spcPts val="1200"/>
              </a:spcAft>
              <a:defRPr sz="1600" b="0">
                <a:solidFill>
                  <a:srgbClr val="E8F2FA"/>
                </a:solidFill>
                <a:latin typeface="Aptos"/>
              </a:defRPr>
            </a:pPr>
            <a:r>
              <a:t>• HUMS sensor data and service records contain early signals—but may remain underanalysed.</a:t>
            </a:r>
          </a:p>
          <a:p>
            <a:pPr>
              <a:spcAft>
                <a:spcPts val="1200"/>
              </a:spcAft>
              <a:defRPr sz="1600" b="0">
                <a:solidFill>
                  <a:srgbClr val="E8F2FA"/>
                </a:solidFill>
                <a:latin typeface="Aptos"/>
              </a:defRPr>
            </a:pPr>
            <a:r>
              <a:t>• Failure risk can stay hidden until an asset is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4480560" cy="56692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F4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21208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4B543"/>
                </a:solidFill>
                <a:latin typeface="Aptos Mono"/>
              </a:rPr>
              <a:t>RESULT  →  unexpected failures + reduced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FD3EB"/>
                </a:solidFill>
                <a:latin typeface="Aptos Mono"/>
              </a:rPr>
              <a:t>WHO NEEDS THE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95728"/>
            <a:ext cx="4983480" cy="786384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2578608"/>
            <a:ext cx="411480" cy="411480"/>
          </a:xfrm>
          <a:prstGeom prst="ellipse">
            <a:avLst/>
          </a:prstGeom>
          <a:solidFill>
            <a:srgbClr val="4A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61518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E8F2FA"/>
                </a:solidFill>
                <a:latin typeface="Apto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51460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Fleet /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7889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Know which assets are mission-ready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47288"/>
            <a:ext cx="4983480" cy="786384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630168"/>
            <a:ext cx="411480" cy="411480"/>
          </a:xfrm>
          <a:prstGeom prst="ellipse">
            <a:avLst/>
          </a:prstGeom>
          <a:solidFill>
            <a:srgbClr val="4A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66674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E8F2FA"/>
                </a:solidFill>
                <a:latin typeface="Aptos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6616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Maintenance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4048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Act before component risk escalates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498848"/>
            <a:ext cx="4983480" cy="786384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4681728"/>
            <a:ext cx="411480" cy="411480"/>
          </a:xfrm>
          <a:prstGeom prst="ellipse">
            <a:avLst/>
          </a:prstGeom>
          <a:solidFill>
            <a:srgbClr val="4A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7183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E8F2FA"/>
                </a:solidFill>
                <a:latin typeface="Aptos Mon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6177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Decision Makers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89204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Understand why readiness is changing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From raw signals to mission-ready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One connected copilot for readiness assessment, prediction and maintenance prioritisation.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4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4A89FF"/>
                </a:solidFill>
                <a:latin typeface="Apto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HUMS +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Sensor data, service records,
component history, usage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1992" y="3017520"/>
            <a:ext cx="21945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96312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60904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4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4A89FF"/>
                </a:solidFill>
                <a:latin typeface="Apto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Assess current asset
readiness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3017520"/>
            <a:ext cx="21945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98264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2856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4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4A89FF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Spot unusual behaviour
and signal changes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5896" y="3017520"/>
            <a:ext cx="21945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0216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3FD3EB"/>
                </a:solidFill>
                <a:latin typeface="Apto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Failure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Estimate component
failure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8" y="3017520"/>
            <a:ext cx="21945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02168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60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3FD3EB"/>
                </a:solidFill>
                <a:latin typeface="Aptos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Explanation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Make the readiness issue
understandable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29800" y="3017520"/>
            <a:ext cx="21945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04120" y="1965960"/>
            <a:ext cx="1627632" cy="21488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68712" y="2130552"/>
            <a:ext cx="50292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05288" y="2167128"/>
            <a:ext cx="4297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3FD3EB"/>
                </a:solidFill>
                <a:latin typeface="Aptos Mono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2624328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Prioritised 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3136391"/>
            <a:ext cx="12984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Recommend what should
be addressed first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0" y="4343400"/>
            <a:ext cx="0" cy="393192"/>
          </a:xfrm>
          <a:prstGeom prst="line">
            <a:avLst/>
          </a:prstGeom>
          <a:ln w="25400">
            <a:solidFill>
              <a:srgbClr val="4A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840480" y="4800600"/>
            <a:ext cx="3657600" cy="68580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4965192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3FD3EB"/>
                </a:solidFill>
                <a:latin typeface="Aptos Mono"/>
              </a:rPr>
              <a:t>MISSION READY  /  INFORMED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03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A modular path from data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The prototype separates data preparation, analytics, prediction and user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148840" cy="35204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89FF"/>
                </a:solidFill>
                <a:latin typeface="Aptos Mono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06040"/>
            <a:ext cx="1783080" cy="2103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HUMS / sensor data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Service records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Component history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Usage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2148840" cy="35204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2057400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606040"/>
            <a:ext cx="1783080" cy="2103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Pandas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Feature preparation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Anomaly signals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Readiness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2148840" cy="35204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2057400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543"/>
                </a:solidFill>
                <a:latin typeface="Aptos Mono"/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606040"/>
            <a:ext cx="1783080" cy="2103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Scikit-learn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Failure-risk model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Risk output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Explanation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2148840" cy="35204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057400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2D29D"/>
                </a:solidFill>
                <a:latin typeface="Aptos Mono"/>
              </a:rPr>
              <a:t>API +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606040"/>
            <a:ext cx="1783080" cy="2103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FastAPI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REST endpoints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React / Next.js</a:t>
            </a:r>
          </a:p>
          <a:p>
            <a:pPr>
              <a:spcAft>
                <a:spcPts val="1000"/>
              </a:spcAft>
              <a:defRPr sz="1300" b="0">
                <a:solidFill>
                  <a:srgbClr val="E8F2FA"/>
                </a:solidFill>
                <a:latin typeface="Aptos"/>
              </a:defRPr>
            </a:pPr>
            <a:r>
              <a:t>• Mission-control 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3566160"/>
            <a:ext cx="320040" cy="0"/>
          </a:xfrm>
          <a:prstGeom prst="line">
            <a:avLst/>
          </a:prstGeom>
          <a:ln w="2540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9240" y="3566160"/>
            <a:ext cx="320039" cy="0"/>
          </a:xfrm>
          <a:prstGeom prst="line">
            <a:avLst/>
          </a:prstGeom>
          <a:ln w="2540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9560" y="3566160"/>
            <a:ext cx="320040" cy="0"/>
          </a:xfrm>
          <a:prstGeom prst="line">
            <a:avLst/>
          </a:prstGeom>
          <a:ln w="2540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20240" y="5650992"/>
            <a:ext cx="8412480" cy="5029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788152"/>
            <a:ext cx="8046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97ADC3"/>
                </a:solidFill>
                <a:latin typeface="Aptos"/>
              </a:rPr>
              <a:t>REST APIs connect the analytical pipeline to an editable, human-readable readiness interface.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04  / 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Illustrative aircraft readiness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A fictional example showing how the copilot could connect signals, risk and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77724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EF5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7ADC3"/>
                </a:solidFill>
                <a:latin typeface="Aptos Mono"/>
              </a:rPr>
              <a:t>ASSET  /  AC-017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56231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EF5D68"/>
                </a:solidFill>
                <a:latin typeface="Aptos Mono"/>
              </a:rPr>
              <a:t>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920240"/>
            <a:ext cx="6309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Illustrative only — no real aircraft data or performance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423160" cy="20574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12724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89FF"/>
                </a:solidFill>
                <a:latin typeface="Aptos Mono"/>
              </a:rPr>
              <a:t>SENSOR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8F2FA"/>
                </a:solidFill>
                <a:latin typeface="Aptos"/>
              </a:rPr>
              <a:t>Vibration trend
Temperature drift
Pressure variation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18104" y="3886200"/>
            <a:ext cx="31089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02152" y="2880360"/>
            <a:ext cx="2423160" cy="20574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312724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543"/>
                </a:solidFill>
                <a:latin typeface="Aptos Mono"/>
              </a:rPr>
              <a:t>PREDICTED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8F2FA"/>
                </a:solidFill>
                <a:latin typeface="Aptos"/>
              </a:rPr>
              <a:t>Component risk
flag raised by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34456" y="3886200"/>
            <a:ext cx="31089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8504" y="2880360"/>
            <a:ext cx="2423160" cy="20574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12724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8F2FA"/>
                </a:solidFill>
                <a:latin typeface="Aptos"/>
              </a:rPr>
              <a:t>Recent signal change
+ service history 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0808" y="3886200"/>
            <a:ext cx="310896" cy="0"/>
          </a:xfrm>
          <a:prstGeom prst="line">
            <a:avLst/>
          </a:prstGeom>
          <a:ln w="19050">
            <a:solidFill>
              <a:srgbClr val="3F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34856" y="2880360"/>
            <a:ext cx="2423160" cy="20574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312724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2D29D"/>
                </a:solidFill>
                <a:latin typeface="Aptos Mono"/>
              </a:rPr>
              <a:t>MAINTENANCE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8F2FA"/>
                </a:solidFill>
                <a:latin typeface="Aptos"/>
              </a:rPr>
              <a:t>Inspect / service
before mission use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394960"/>
            <a:ext cx="8138160" cy="530352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5541264"/>
            <a:ext cx="77724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3FD3EB"/>
                </a:solidFill>
                <a:latin typeface="Aptos Mono"/>
              </a:rPr>
              <a:t>OUTPUT  →  a transparent recommendation for the maintenance team to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05  /  IBM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IBM Bob as the build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IBM Bob supports AI-assisted development; the prediction engine remains part of our application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886200" cy="406908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8F2FA"/>
                </a:solidFill>
                <a:latin typeface="Aptos"/>
              </a:rPr>
              <a:t>IBM 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FD3EB"/>
                </a:solidFill>
                <a:latin typeface="Aptos"/>
              </a:rPr>
              <a:t>AI-assisted development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154680" cy="17373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8F2FA"/>
                </a:solidFill>
                <a:latin typeface="Aptos"/>
              </a:defRPr>
            </a:pPr>
            <a:r>
              <a:t>• Build and edit project files</a:t>
            </a:r>
          </a:p>
          <a:p>
            <a:pPr>
              <a:spcAft>
                <a:spcPts val="1000"/>
              </a:spcAft>
              <a:defRPr sz="1400" b="0">
                <a:solidFill>
                  <a:srgbClr val="E8F2FA"/>
                </a:solidFill>
                <a:latin typeface="Aptos"/>
              </a:defRPr>
            </a:pPr>
            <a:r>
              <a:t>• Assist with implementation</a:t>
            </a:r>
          </a:p>
          <a:p>
            <a:pPr>
              <a:spcAft>
                <a:spcPts val="1000"/>
              </a:spcAft>
              <a:defRPr sz="1400" b="0">
                <a:solidFill>
                  <a:srgbClr val="E8F2FA"/>
                </a:solidFill>
                <a:latin typeface="Aptos"/>
              </a:defRPr>
            </a:pPr>
            <a:r>
              <a:t>• Debug and iterate faster</a:t>
            </a:r>
          </a:p>
          <a:p>
            <a:pPr>
              <a:spcAft>
                <a:spcPts val="1000"/>
              </a:spcAft>
              <a:defRPr sz="1400" b="0">
                <a:solidFill>
                  <a:srgbClr val="E8F2FA"/>
                </a:solidFill>
                <a:latin typeface="Aptos"/>
              </a:defRPr>
            </a:pPr>
            <a:r>
              <a:t>• Support developer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66360"/>
            <a:ext cx="2423160" cy="27432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F4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202936"/>
            <a:ext cx="235000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4B543"/>
                </a:solidFill>
                <a:latin typeface="Aptos Mono"/>
              </a:rPr>
              <a:t>NOT THE PREDICTION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38528"/>
            <a:ext cx="5852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FD3EB"/>
                </a:solidFill>
                <a:latin typeface="Aptos Mono"/>
              </a:rPr>
              <a:t>APPLICATION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46888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59689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82549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React / Next.js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46888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59689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82549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47472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360273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83133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Python / Pandas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47472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60273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83133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Scikit-learn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448056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460857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483717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REST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480560"/>
            <a:ext cx="2788920" cy="74980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608576"/>
            <a:ext cx="2468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7ADC3"/>
                </a:solidFill>
                <a:latin typeface="Aptos Mono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837176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Git /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06  /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What MissionReady Copilot enables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The value is earlier visibility and better-informed maintenance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074920" cy="11430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A89FF"/>
                </a:solidFill>
                <a:latin typeface="Aptos Mono"/>
              </a:rPr>
              <a:t>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29968"/>
            <a:ext cx="2926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A consolidated view of asset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11430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FD3EB"/>
                </a:solidFill>
                <a:latin typeface="Aptos Mono"/>
              </a:rPr>
              <a:t>EARLY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029968"/>
            <a:ext cx="2926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Detect abnormal behaviour before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5074920" cy="11430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4B543"/>
                </a:solidFill>
                <a:latin typeface="Aptos Mono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38728"/>
            <a:ext cx="2926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Connect risk outputs to understandable signals and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37560"/>
            <a:ext cx="5074920" cy="114300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52D29D"/>
                </a:solidFill>
                <a:latin typeface="Aptos Mono"/>
              </a:rPr>
              <a:t>PRIORITISATION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538728"/>
            <a:ext cx="2926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F2FA"/>
                </a:solidFill>
                <a:latin typeface="Aptos"/>
              </a:rPr>
              <a:t>Help teams focus attention where it matters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74920"/>
            <a:ext cx="10652760" cy="777240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EF5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3951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F5D68"/>
                </a:solidFill>
                <a:latin typeface="Aptos Mono"/>
              </a:rPr>
              <a:t>PROTOTYPE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193792"/>
            <a:ext cx="8412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7ADC3"/>
                </a:solidFill>
                <a:latin typeface="Aptos"/>
              </a:rPr>
              <a:t>Demonstration uses illustrative data and workflow logic; it does not establish real-world operational accuracy or deployment readiness.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FD3EB"/>
                </a:solidFill>
                <a:latin typeface="Aptos Mono"/>
              </a:rPr>
              <a:t>07  / 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F2FA"/>
                </a:solidFill>
                <a:latin typeface="Aptos"/>
              </a:rPr>
              <a:t>Chatpate-4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97ADC3"/>
                </a:solidFill>
                <a:latin typeface="Aptos"/>
              </a:rPr>
              <a:t>Four roles. One mission: make readiness easier to understand and act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074920" cy="141732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4A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50A14"/>
                </a:solidFill>
                <a:latin typeface="Aptos Mono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740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DARSHIT SORATHIYA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2316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A89FF"/>
                </a:solidFill>
                <a:latin typeface="Aptos Mono"/>
              </a:rPr>
              <a:t>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24912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Direction • coordination •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148840"/>
            <a:ext cx="731520" cy="731520"/>
          </a:xfrm>
          <a:prstGeom prst="ellipse">
            <a:avLst/>
          </a:prstGeom>
          <a:solidFill>
            <a:srgbClr val="3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40864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50A14"/>
                </a:solidFill>
                <a:latin typeface="Aptos Mono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5740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TULSI DHAMELIYA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42316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3FD3EB"/>
                </a:solidFill>
                <a:latin typeface="Aptos Mono"/>
              </a:rPr>
              <a:t>FRONTEND / UI &amp;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724912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Interface • user flow •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5074920" cy="141732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931920"/>
            <a:ext cx="731520" cy="731520"/>
          </a:xfrm>
          <a:prstGeom prst="ellipse">
            <a:avLst/>
          </a:prstGeom>
          <a:solidFill>
            <a:srgbClr val="F4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23944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50A14"/>
                </a:solidFill>
                <a:latin typeface="Aptos Mono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4048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MAHI PANDEY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0624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4B543"/>
                </a:solidFill>
                <a:latin typeface="Aptos Mono"/>
              </a:rPr>
              <a:t>DATA /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507992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Data preparation • signals •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11880"/>
            <a:ext cx="5074920" cy="1417320"/>
          </a:xfrm>
          <a:prstGeom prst="roundRect">
            <a:avLst/>
          </a:prstGeom>
          <a:solidFill>
            <a:srgbClr val="0C1727"/>
          </a:solidFill>
          <a:ln w="10160">
            <a:solidFill>
              <a:srgbClr val="1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3931920"/>
            <a:ext cx="731520" cy="731520"/>
          </a:xfrm>
          <a:prstGeom prst="ellipse">
            <a:avLst/>
          </a:prstGeom>
          <a:solidFill>
            <a:srgbClr val="52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123944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50A14"/>
                </a:solidFill>
                <a:latin typeface="Aptos Mono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84048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8F2FA"/>
                </a:solidFill>
                <a:latin typeface="Aptos"/>
              </a:rPr>
              <a:t>SHREYAN VARSANI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20624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2D29D"/>
                </a:solidFill>
                <a:latin typeface="Aptos Mono"/>
              </a:rPr>
              <a:t>ENGINEERING /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507992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7ADC3"/>
                </a:solidFill>
                <a:latin typeface="Aptos"/>
              </a:rPr>
              <a:t>Backend • APIs •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5669280"/>
            <a:ext cx="6583680" cy="475488"/>
          </a:xfrm>
          <a:prstGeom prst="roundRect">
            <a:avLst/>
          </a:prstGeom>
          <a:solidFill>
            <a:srgbClr val="102034"/>
          </a:solidFill>
          <a:ln w="10160">
            <a:solidFill>
              <a:srgbClr val="3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5797296"/>
            <a:ext cx="6217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3FD3EB"/>
                </a:solidFill>
                <a:latin typeface="Aptos Mono"/>
              </a:rPr>
              <a:t>CHATPATE-4  /  AI TRACK  /  PROBLEM STATEMENT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97ADC3"/>
                </a:solidFill>
                <a:latin typeface="Aptos Mono"/>
              </a:rPr>
              <a:t>MISSIONREADY COPILOT  /  CHATPATE-4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3FD3EB"/>
                </a:solidFill>
                <a:latin typeface="Aptos Mono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