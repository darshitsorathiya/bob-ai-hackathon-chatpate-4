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</ns0:sldIdLst>
  <ns0:sldSz cx="12192000" cy="6858000" type="screen4x3"/>
  <ns0:notesSz cx="6858000" cy="9144000"/>
  <ns0:embeddedFontLst>
    <ns0:embeddedFont>
      <ns0:font typeface="Space Grotesk"/>
      <ns0:bold ns1:id="rIdFont17"/>
    </ns0:embeddedFont>
    <ns0:embeddedFont>
      <ns0:font typeface="Inter"/>
      <ns0:bold ns1:id="rIdFont18"/>
      <ns0:regular ns1:id="rIdFont19"/>
    </ns0:embeddedFont>
    <ns0:embeddedFont>
      <ns0:font typeface="JetBrains Mono"/>
      <ns0:bold ns1:id="rIdFont20"/>
      <ns0:regular ns1:id="rIdFont21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ns0:Relationship Id="rId16" Type="http://schemas.openxmlformats.org/officeDocument/2006/relationships/slide" Target="slides/slide10.xml" /><ns0:Relationship Id="rIdFont17" Type="http://schemas.openxmlformats.org/officeDocument/2006/relationships/font" Target="fonts/129dc9a8-3637-44d2-b378-1ee9c6f0d610.fntdata" /><ns0:Relationship Id="rIdFont18" Type="http://schemas.openxmlformats.org/officeDocument/2006/relationships/font" Target="fonts/3a8b4eb9-c1f8-4a81-9167-9d62f48ab3f4.fntdata" /><ns0:Relationship Id="rIdFont19" Type="http://schemas.openxmlformats.org/officeDocument/2006/relationships/font" Target="fonts/7f74aac0-643b-4f58-9b92-18de8e156710.fntdata" /><ns0:Relationship Id="rIdFont20" Type="http://schemas.openxmlformats.org/officeDocument/2006/relationships/font" Target="fonts/b5ccb968-27fa-4cd7-95ec-0a10f445ffa0.fntdata" /><ns0:Relationship Id="rIdFont21" Type="http://schemas.openxmlformats.org/officeDocument/2006/relationships/font" Target="fonts/423ebd86-99e5-4283-b9ec-ab3dc8974935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A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5781675"/>
            <a:ext cx="10820400" cy="5619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949797"/>
            <a:ext cx="1543050" cy="304800"/>
          </a:xfrm>
          <a:prstGeom prst="roundRect">
            <a:avLst>
              <a:gd name="adj" fmla="val 18750"/>
            </a:avLst>
          </a:prstGeom>
          <a:solidFill>
            <a:srgbClr val="132F2F"/>
          </a:solidFill>
          <a:ln w="9525">
            <a:solidFill>
              <a:srgbClr val="164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781675"/>
            <a:ext cx="108204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675" y="2035522"/>
            <a:ext cx="133350" cy="13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426047"/>
            <a:ext cx="8701087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8FAFC"/>
                </a:solidFill>
                <a:latin typeface="Space Grotesk"/>
              </a:rPr>
              <a:t>Predictive Fleet Health &amp; Operational Readiness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17577"/>
            <a:ext cx="7334250" cy="828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b="0" sz="1500" i="0" u="none">
                <a:solidFill>
                  <a:srgbClr val="94A3B8"/>
                </a:solidFill>
                <a:latin typeface="Inter"/>
              </a:rPr>
              <a:t>Turning raw aircraft sensor telemetry and vibration data into instant dispatch decisions, predictive maintenance schedules, and zero-downtime flight operations.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7600" y="6081712"/>
            <a:ext cx="47244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38BDF8"/>
                </a:solidFill>
                <a:latin typeface="JetBrains Mono"/>
              </a:rPr>
              <a:t>github.com/drijesh-ppatel/bob-ai-hackathon-Chatpate-4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4350"/>
            <a:ext cx="2619375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Space Grotesk"/>
              </a:rPr>
              <a:t>IBM BOB AI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600" y="519112"/>
            <a:ext cx="333375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Inter"/>
              </a:rPr>
              <a:t>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7525" y="519112"/>
            <a:ext cx="160734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94A3B8"/>
                </a:solidFill>
                <a:latin typeface="JetBrains Mono"/>
              </a:rPr>
              <a:t>TEAM CHATPATE-4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33400"/>
            <a:ext cx="17145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94A3B8"/>
                </a:solidFill>
                <a:latin typeface="JetBrains Mono"/>
              </a:rPr>
              <a:t>SYSTEM OPERATIONAL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225" y="2016472"/>
            <a:ext cx="13335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FFFFF"/>
                </a:solidFill>
                <a:latin typeface="Space Grotesk"/>
              </a:rPr>
              <a:t>MISSION</a:t>
            </a:r>
            <a:r>
              <a:rPr b="1" sz="1050" i="0" u="none">
                <a:solidFill>
                  <a:srgbClr val="4ADE80"/>
                </a:solidFill>
                <a:latin typeface="Space Grotesk"/>
              </a:rPr>
              <a:t>READY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1700"/>
            <a:ext cx="2405062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64748B"/>
                </a:solidFill>
                <a:latin typeface="Inter"/>
              </a:rPr>
              <a:t>FOCUS AREA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62675"/>
            <a:ext cx="2405062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E2E8F0"/>
                </a:solidFill>
                <a:latin typeface="Inter"/>
              </a:rPr>
              <a:t>Aviation HUMS &amp; Readiness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2750" y="5981700"/>
            <a:ext cx="2928937" cy="14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00" i="0" u="none">
                <a:solidFill>
                  <a:srgbClr val="64748B"/>
                </a:solidFill>
                <a:latin typeface="Inter"/>
              </a:rPr>
              <a:t>BUILT WITH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2750" y="6162675"/>
            <a:ext cx="2928937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E2E8F0"/>
                </a:solidFill>
                <a:latin typeface="Inter"/>
              </a:rPr>
              <a:t>FastAPI • Next.js 14 • IBM Bob CLI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162550"/>
            <a:ext cx="10972800" cy="1238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099220"/>
            <a:ext cx="3530649" cy="2581275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0749" y="2099220"/>
            <a:ext cx="3530649" cy="2581275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51899" y="2099220"/>
            <a:ext cx="3530649" cy="2581275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4128045"/>
            <a:ext cx="30543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874" y="4128045"/>
            <a:ext cx="30543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90024" y="4128045"/>
            <a:ext cx="30543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337345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874" y="2337345"/>
            <a:ext cx="381000" cy="3810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024" y="2337345"/>
            <a:ext cx="381000" cy="3810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687" y="2442120"/>
            <a:ext cx="219075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3649" y="2442120"/>
            <a:ext cx="171450" cy="1714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0986" y="2442120"/>
            <a:ext cx="219075" cy="171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600" y="695325"/>
            <a:ext cx="115824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Space Grotesk"/>
              </a:rPr>
              <a:t>Why Aircraft Groundings Catch Fleets by Surprise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163835"/>
            <a:ext cx="11068050" cy="453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275" i="0" u="none">
                <a:solidFill>
                  <a:srgbClr val="475569"/>
                </a:solidFill>
                <a:latin typeface="Inter"/>
              </a:rPr>
              <a:t>Airlines and fleet managers rely on calendar schedules instead of real-time machine health, leading to unexpected failures and massive delays.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57200"/>
            <a:ext cx="14287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1. THE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6400" y="457200"/>
            <a:ext cx="28575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JetBrains Mono"/>
              </a:rPr>
              <a:t>Aviation Reliability Challenge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4242345"/>
            <a:ext cx="31496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DC2626"/>
                </a:solidFill>
                <a:latin typeface="Inter"/>
              </a:rPr>
              <a:t>High Stress On Flight Turnaround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8874" y="4242345"/>
            <a:ext cx="31496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DC2626"/>
                </a:solidFill>
                <a:latin typeface="Inter"/>
              </a:rPr>
              <a:t>Silent Wear Under Flight Stress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0024" y="4242345"/>
            <a:ext cx="31496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EA580C"/>
                </a:solidFill>
                <a:latin typeface="Inter"/>
              </a:rPr>
              <a:t>Cascading Operational Delays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" y="5519737"/>
            <a:ext cx="1535906" cy="43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DC2626"/>
                </a:solidFill>
                <a:latin typeface="Space Grotesk"/>
              </a:rPr>
              <a:t>$100K+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66950" y="5719762"/>
            <a:ext cx="2101006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Hourly cost of an unscheduled Aircraft on Ground (AOG) 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8808" y="5519737"/>
            <a:ext cx="981075" cy="438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EA580C"/>
                </a:solidFill>
                <a:latin typeface="Space Grotesk"/>
              </a:rPr>
              <a:t>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8433" y="5719762"/>
            <a:ext cx="2433786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Maintenance actions driven by unexpected faults rather than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3071" y="5343525"/>
            <a:ext cx="1219348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284C7"/>
                </a:solidFill>
                <a:latin typeface="Space Grotesk"/>
              </a:rPr>
              <a:t>Hours Lost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71470" y="5543550"/>
            <a:ext cx="2691854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Manually downloading and cross-referencing onboard sensor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2851695"/>
            <a:ext cx="400889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Space Grotesk"/>
              </a:rPr>
              <a:t>Who Suffers?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3166020"/>
            <a:ext cx="3149649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Airlines, charter operators, and maintenance engineers managing complex fleets with tight flight turnarounds.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8874" y="2851695"/>
            <a:ext cx="400889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Space Grotesk"/>
              </a:rPr>
              <a:t>What Breaks?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8874" y="3166020"/>
            <a:ext cx="3149649" cy="828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Parts wear down invisibly. Bearings, turbines, and structural joints degrade between scheduled inspections without giving obvious warnings.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0024" y="2851695"/>
            <a:ext cx="39019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Space Grotesk"/>
              </a:rPr>
              <a:t>Why It Hurts?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0024" y="3166020"/>
            <a:ext cx="3149649" cy="828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An unscheduled grounding strands passengers, ruins flight rotations, and forces emergency technician call-outs and rush part orders.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972175"/>
            <a:ext cx="10972800" cy="428625"/>
          </a:xfrm>
          <a:prstGeom prst="roundRect">
            <a:avLst>
              <a:gd name="adj" fmla="val 1777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1581001"/>
            <a:ext cx="5353050" cy="4200673"/>
          </a:xfrm>
          <a:prstGeom prst="roundRect">
            <a:avLst>
              <a:gd name="adj" fmla="val 2267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29350" y="1581001"/>
            <a:ext cx="5353050" cy="4200673"/>
          </a:xfrm>
          <a:prstGeom prst="roundRect">
            <a:avLst>
              <a:gd name="adj" fmla="val 226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6775" y="5172075"/>
            <a:ext cx="4838700" cy="352425"/>
          </a:xfrm>
          <a:prstGeom prst="roundRect">
            <a:avLst>
              <a:gd name="adj" fmla="val 16216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86525" y="5010150"/>
            <a:ext cx="4838700" cy="514350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6100762"/>
            <a:ext cx="1333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775" y="1866751"/>
            <a:ext cx="190500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525" y="1866751"/>
            <a:ext cx="190500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2257276"/>
            <a:ext cx="104775" cy="1428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2771626"/>
            <a:ext cx="104775" cy="1428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" y="3285976"/>
            <a:ext cx="104775" cy="1428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2257276"/>
            <a:ext cx="123825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2771626"/>
            <a:ext cx="123825" cy="1428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3285976"/>
            <a:ext cx="123825" cy="1428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695325"/>
            <a:ext cx="115824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Space Grotesk"/>
              </a:rPr>
              <a:t>Why Today's Monitoring Systems Miss Early Warnings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163835"/>
            <a:ext cx="11582400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275" i="0" u="none">
                <a:solidFill>
                  <a:srgbClr val="475569"/>
                </a:solidFill>
                <a:latin typeface="Inter"/>
              </a:rPr>
              <a:t>Current Health and Usage Monitoring Systems (HUMS) collect plenty of sensor logs, but the data remains trapped in silos until it's too late.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7275" y="6096000"/>
            <a:ext cx="10691812" cy="1809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334155"/>
                </a:solidFill>
                <a:latin typeface="Inter"/>
              </a:rPr>
              <a:t>The Core Goal:</a:t>
            </a:r>
            <a:r>
              <a:rPr b="0" sz="1125" i="0" u="none">
                <a:solidFill>
                  <a:srgbClr val="334155"/>
                </a:solidFill>
                <a:latin typeface="Inter"/>
              </a:rPr>
              <a:t> Move from "repair it after it breaks" to "detect subtle wear and schedule service during regular ground stops."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57200"/>
            <a:ext cx="2708671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1. THE PROBLEM • ROOT CAUSE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0" y="457200"/>
            <a:ext cx="25717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JetBrains Mono"/>
              </a:rPr>
              <a:t>Existing Systems Fall Short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0125" y="5267325"/>
            <a:ext cx="46672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991B1B"/>
                </a:solidFill>
                <a:latin typeface="JetBrains Mono"/>
              </a:rPr>
              <a:t>Result: Fleets stay reactive, costly, and fragile.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9875" y="5105400"/>
            <a:ext cx="4667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166534"/>
                </a:solidFill>
                <a:latin typeface="JetBrains Mono"/>
              </a:rPr>
              <a:t>Target: Proactive repairs scheduled before flight delays happen.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525" y="1838176"/>
            <a:ext cx="3712964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991B1B"/>
                </a:solidFill>
                <a:latin typeface="Space Grotesk"/>
              </a:rPr>
              <a:t>Conventional Monitoring Flaws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" y="2219176"/>
            <a:ext cx="473392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125" i="0" u="none">
                <a:solidFill>
                  <a:srgbClr val="EF4444"/>
                </a:solidFill>
                <a:latin typeface="Inter"/>
              </a:rPr>
              <a:t>Static Thresholds:</a:t>
            </a:r>
            <a:r>
              <a:rPr b="1" sz="1125" i="0" u="none">
                <a:solidFill>
                  <a:srgbClr val="EF4444"/>
                </a:solidFill>
                <a:latin typeface="Inter"/>
              </a:rPr>
              <a:t> Triggers only when a part has already suffered permanent damage.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800" y="2733526"/>
            <a:ext cx="473392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125" i="0" u="none">
                <a:solidFill>
                  <a:srgbClr val="EF4444"/>
                </a:solidFill>
                <a:latin typeface="Inter"/>
              </a:rPr>
              <a:t>Post-Flight Isolation:</a:t>
            </a:r>
            <a:r>
              <a:rPr b="1" sz="1125" i="0" u="none">
                <a:solidFill>
                  <a:srgbClr val="EF4444"/>
                </a:solidFill>
                <a:latin typeface="Inter"/>
              </a:rPr>
              <a:t> Data is pulled from onboard flash memory only after the aircraft has landed.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6800" y="3247876"/>
            <a:ext cx="473392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125" i="0" u="none">
                <a:solidFill>
                  <a:srgbClr val="EF4444"/>
                </a:solidFill>
                <a:latin typeface="Inter"/>
              </a:rPr>
              <a:t>No Clear Answers:</a:t>
            </a:r>
            <a:r>
              <a:rPr b="1" sz="1125" i="0" u="none">
                <a:solidFill>
                  <a:srgbClr val="EF4444"/>
                </a:solidFill>
                <a:latin typeface="Inter"/>
              </a:rPr>
              <a:t> Gives technicians confusing graphs instead of a direct "Safe to Fly" recommendation.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2275" y="1838176"/>
            <a:ext cx="3262907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166534"/>
                </a:solidFill>
                <a:latin typeface="Space Grotesk"/>
              </a:rPr>
              <a:t>What Fleet Operators Need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600" y="2219176"/>
            <a:ext cx="471487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125" i="0" u="none">
                <a:solidFill>
                  <a:srgbClr val="0F172A"/>
                </a:solidFill>
                <a:latin typeface="Inter"/>
              </a:rPr>
              <a:t>Physics + AI Analysis:</a:t>
            </a:r>
            <a:r>
              <a:rPr b="1" sz="1125" i="0" u="none">
                <a:solidFill>
                  <a:srgbClr val="0F172A"/>
                </a:solidFill>
                <a:latin typeface="Inter"/>
              </a:rPr>
              <a:t> Detect micro-vibrations long before standard temperature or pressure sensors spike.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05600" y="2733526"/>
            <a:ext cx="471487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125" i="0" u="none">
                <a:solidFill>
                  <a:srgbClr val="0F172A"/>
                </a:solidFill>
                <a:latin typeface="Inter"/>
              </a:rPr>
              <a:t>Live Health Scores:</a:t>
            </a:r>
            <a:r>
              <a:rPr b="1" sz="1125" i="0" u="none">
                <a:solidFill>
                  <a:srgbClr val="0F172A"/>
                </a:solidFill>
                <a:latin typeface="Inter"/>
              </a:rPr>
              <a:t> Continuous 0–100% readiness scores for individual planes and the whole fleet.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5600" y="3247876"/>
            <a:ext cx="4714875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1" sz="1125" i="0" u="none">
                <a:solidFill>
                  <a:srgbClr val="0F172A"/>
                </a:solidFill>
                <a:latin typeface="Inter"/>
              </a:rPr>
              <a:t>Instant Dispatch Decisions:</a:t>
            </a:r>
            <a:r>
              <a:rPr b="1" sz="1125" i="0" u="none">
                <a:solidFill>
                  <a:srgbClr val="0F172A"/>
                </a:solidFill>
                <a:latin typeface="Inter"/>
              </a:rPr>
              <a:t> Automated GO / CAUTION / NO-GO recommendations for upcoming flights.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657701"/>
            <a:ext cx="10972800" cy="742950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233463"/>
            <a:ext cx="3530649" cy="2581275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0749" y="2233463"/>
            <a:ext cx="3530649" cy="2581275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51899" y="2233463"/>
            <a:ext cx="3530649" cy="2581275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7725" y="4262288"/>
            <a:ext cx="30543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874" y="4262288"/>
            <a:ext cx="30543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90024" y="4262288"/>
            <a:ext cx="30543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05800" y="5895826"/>
            <a:ext cx="1362075" cy="266700"/>
          </a:xfrm>
          <a:prstGeom prst="roundRect">
            <a:avLst>
              <a:gd name="adj" fmla="val 21428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2175" y="5895826"/>
            <a:ext cx="1562100" cy="266700"/>
          </a:xfrm>
          <a:prstGeom prst="roundRect">
            <a:avLst>
              <a:gd name="adj" fmla="val 21428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2471588"/>
            <a:ext cx="381000" cy="3810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8874" y="2471588"/>
            <a:ext cx="381000" cy="3810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024" y="2471588"/>
            <a:ext cx="381000" cy="3810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687" y="2576363"/>
            <a:ext cx="219075" cy="1714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3649" y="2576363"/>
            <a:ext cx="171450" cy="1714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0986" y="2576363"/>
            <a:ext cx="219075" cy="1714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600" y="695325"/>
            <a:ext cx="115824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Space Grotesk"/>
              </a:rPr>
              <a:t>MissionReady: Intelligent Fleet Health &amp; Readiness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163835"/>
            <a:ext cx="11582400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275" i="0" u="none">
                <a:solidFill>
                  <a:srgbClr val="475569"/>
                </a:solidFill>
                <a:latin typeface="Inter"/>
              </a:rPr>
              <a:t>A unified software platform that reads vibration and engine telemetry to give dispatchers clear, real-time aircraft readiness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57200"/>
            <a:ext cx="25717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2. THE SOLUTION • 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800" y="457200"/>
            <a:ext cx="12763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JetBrains Mono"/>
              </a:rPr>
              <a:t>What We Built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4376588"/>
            <a:ext cx="31496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0284C7"/>
                </a:solidFill>
                <a:latin typeface="Inter"/>
              </a:rPr>
              <a:t>NASA IMS &amp; C-MAPSS DATASETS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8874" y="4376588"/>
            <a:ext cx="31496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059669"/>
                </a:solidFill>
                <a:latin typeface="Inter"/>
              </a:rPr>
              <a:t>DETERMINISTIC RULES (NO GUESSWORK)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024" y="4376588"/>
            <a:ext cx="31496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7C3AED"/>
                </a:solidFill>
                <a:latin typeface="Inter"/>
              </a:rPr>
              <a:t>ACTIONABLE WORK ORDERS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0100" y="5952976"/>
            <a:ext cx="122872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334155"/>
                </a:solidFill>
                <a:latin typeface="JetBrains Mono"/>
              </a:rPr>
              <a:t>14 REST Endpoints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6475" y="5952976"/>
            <a:ext cx="1428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334155"/>
                </a:solidFill>
                <a:latin typeface="JetBrains Mono"/>
              </a:rPr>
              <a:t>60 FPS Visual Canvas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2985938"/>
            <a:ext cx="400889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Space Grotesk"/>
              </a:rPr>
              <a:t>Vibration Health Modeling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" y="3300263"/>
            <a:ext cx="3149649" cy="828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Translates raw vibration pulses into mechanical indicators like Kurtosis and Crest Factor to spot bearing wear hundreds of flight hours early.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8874" y="2985938"/>
            <a:ext cx="4008899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Space Grotesk"/>
              </a:rPr>
              <a:t>Automated Readiness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8874" y="3300263"/>
            <a:ext cx="3149649" cy="828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Calculates an exact 0–100% readiness score for every airframe and automatically labels upcoming flights as GO, CAUTION, or NO-GO.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0024" y="2985938"/>
            <a:ext cx="39019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425" i="0" u="none">
                <a:solidFill>
                  <a:srgbClr val="0F172A"/>
                </a:solidFill>
                <a:latin typeface="Space Grotesk"/>
              </a:rPr>
              <a:t>Maintenance Copilot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0024" y="3300263"/>
            <a:ext cx="3149649" cy="828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1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An intelligent advisor that analyzes anomalies, explains the mechanical cause in plain English, and recommends exact maintenance work orders.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4425" y="5838676"/>
            <a:ext cx="6788348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Space Grotesk"/>
              </a:rPr>
              <a:t>Production Ready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4425" y="6057751"/>
            <a:ext cx="6465093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Tested with real NASA aerospace datasets and simulated multi-aircraft operations.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791051"/>
            <a:ext cx="10972800" cy="609600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531715"/>
            <a:ext cx="2628900" cy="2118121"/>
          </a:xfrm>
          <a:prstGeom prst="roundRect">
            <a:avLst>
              <a:gd name="adj" fmla="val 449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90900" y="2531715"/>
            <a:ext cx="2628900" cy="2118121"/>
          </a:xfrm>
          <a:prstGeom prst="roundRect">
            <a:avLst>
              <a:gd name="adj" fmla="val 449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72200" y="2531715"/>
            <a:ext cx="2628900" cy="2118121"/>
          </a:xfrm>
          <a:prstGeom prst="roundRect">
            <a:avLst>
              <a:gd name="adj" fmla="val 449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531715"/>
            <a:ext cx="2628900" cy="2118121"/>
          </a:xfrm>
          <a:prstGeom prst="roundRect">
            <a:avLst>
              <a:gd name="adj" fmla="val 4496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4154537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90925" y="4154537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72225" y="4154537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53525" y="4154537"/>
            <a:ext cx="2228850" cy="9525"/>
          </a:xfrm>
          <a:prstGeom prst="rect">
            <a:avLst/>
          </a:prstGeom>
          <a:solidFill>
            <a:srgbClr val="BBF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6010126"/>
            <a:ext cx="171450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6075" y="2736502"/>
            <a:ext cx="152400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7375" y="2736502"/>
            <a:ext cx="152400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775" y="2736502"/>
            <a:ext cx="11430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9975" y="2736502"/>
            <a:ext cx="15240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695325"/>
            <a:ext cx="115824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Space Grotesk"/>
              </a:rPr>
              <a:t>From Raw Sensors to Flight Clearance: 4 Clean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163835"/>
            <a:ext cx="11582400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275" i="0" u="none">
                <a:solidFill>
                  <a:srgbClr val="475569"/>
                </a:solidFill>
                <a:latin typeface="Inter"/>
              </a:rPr>
              <a:t>MissionReady turns millions of high-frequency sensor readings into a simple, trustworthy dispatch answer.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4928" y="5943451"/>
            <a:ext cx="1092696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0284C7"/>
                </a:solidFill>
                <a:latin typeface="JetBrains Mono"/>
              </a:rPr>
              <a:t>SAFETY-CRITICAL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57200"/>
            <a:ext cx="2452687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2. THE SOLUTION •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0" y="457200"/>
            <a:ext cx="12001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JetBrains Mono"/>
              </a:rPr>
              <a:t>How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625" y="4249787"/>
            <a:ext cx="23241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64748B"/>
                </a:solidFill>
                <a:latin typeface="Inter"/>
              </a:rPr>
              <a:t>Multi-channel sensor feeds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0925" y="4249787"/>
            <a:ext cx="23241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64748B"/>
                </a:solidFill>
                <a:latin typeface="Inter"/>
              </a:rPr>
              <a:t>Vibration physics indicators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2225" y="4249787"/>
            <a:ext cx="23241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64748B"/>
                </a:solidFill>
                <a:latin typeface="Inter"/>
              </a:rPr>
              <a:t>RUL cycles &amp; wear curves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525" y="4249787"/>
            <a:ext cx="23241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825" i="0" u="none">
                <a:solidFill>
                  <a:srgbClr val="166534"/>
                </a:solidFill>
                <a:latin typeface="Inter"/>
              </a:rPr>
              <a:t>Instant flight clearance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" y="5914876"/>
            <a:ext cx="9384803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1E40AF"/>
                </a:solidFill>
                <a:latin typeface="Inter"/>
              </a:rPr>
              <a:t>Deterministic Guardrails:</a:t>
            </a:r>
            <a:r>
              <a:rPr b="0" sz="1125" i="0" u="none">
                <a:solidFill>
                  <a:srgbClr val="1E40AF"/>
                </a:solidFill>
                <a:latin typeface="Inter"/>
              </a:rPr>
              <a:t> Machine learning predicts the wear trend; hard aerospace safety thresholds make the final clearance decision.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625" y="3007965"/>
            <a:ext cx="2925365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Space Grotesk"/>
              </a:rPr>
              <a:t>Telemetry Ingestion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625" y="3293715"/>
            <a:ext cx="2324100" cy="746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Streams temperature, pressure, spool speeds, and vibration acceleration from onboard aircraft sensors.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0925" y="3007965"/>
            <a:ext cx="2925365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Space Grotesk"/>
              </a:rPr>
              <a:t>Physics Feature Math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0925" y="3293715"/>
            <a:ext cx="2324100" cy="746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Extracts Kurtosis, RMS energy, and frequency peaks over rolling windows to spot subtle mechanical stress.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2225" y="3007965"/>
            <a:ext cx="2925365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Space Grotesk"/>
              </a:rPr>
              <a:t>Remaining Useful Life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2225" y="3293715"/>
            <a:ext cx="2324100" cy="559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Gradient-boosted ML predicts how many flight hours remain before a component reaches safety limits.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3525" y="3007965"/>
            <a:ext cx="2925365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Space Grotesk"/>
              </a:rPr>
              <a:t>Dispatch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3525" y="3293715"/>
            <a:ext cx="2324100" cy="746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Applies strict aviation safety rules to output GO / CAUTION / NO-GO status and automatically logs work tickets.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625" y="2731740"/>
            <a:ext cx="74295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STEP 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90925" y="2731740"/>
            <a:ext cx="7620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STEP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2225" y="2731740"/>
            <a:ext cx="7620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STEP 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525" y="2731740"/>
            <a:ext cx="7620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16A34A"/>
                </a:solidFill>
                <a:latin typeface="Space Grotesk"/>
              </a:rPr>
              <a:t>STEP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6000750"/>
            <a:ext cx="10972800" cy="40005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2269480"/>
            <a:ext cx="3530649" cy="2852291"/>
          </a:xfrm>
          <a:prstGeom prst="roundRect">
            <a:avLst>
              <a:gd name="adj" fmla="val 33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0749" y="2269480"/>
            <a:ext cx="3530649" cy="2852291"/>
          </a:xfrm>
          <a:prstGeom prst="roundRect">
            <a:avLst>
              <a:gd name="adj" fmla="val 33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51899" y="2269480"/>
            <a:ext cx="3530649" cy="2852291"/>
          </a:xfrm>
          <a:prstGeom prst="roundRect">
            <a:avLst>
              <a:gd name="adj" fmla="val 33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8675" y="4607421"/>
            <a:ext cx="30924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49824" y="4607421"/>
            <a:ext cx="30924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0974" y="4607421"/>
            <a:ext cx="3092499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8675" y="3782913"/>
            <a:ext cx="3092499" cy="710207"/>
          </a:xfrm>
          <a:prstGeom prst="roundRect">
            <a:avLst>
              <a:gd name="adj" fmla="val 804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49824" y="3782913"/>
            <a:ext cx="3092499" cy="710207"/>
          </a:xfrm>
          <a:prstGeom prst="roundRect">
            <a:avLst>
              <a:gd name="adj" fmla="val 804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70974" y="3782913"/>
            <a:ext cx="3092499" cy="710207"/>
          </a:xfrm>
          <a:prstGeom prst="roundRect">
            <a:avLst>
              <a:gd name="adj" fmla="val 804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68674" y="2488555"/>
            <a:ext cx="952500" cy="1905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56499" y="2488555"/>
            <a:ext cx="885825" cy="1905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77623" y="2488555"/>
            <a:ext cx="1085850" cy="1905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6124575"/>
            <a:ext cx="19050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695325"/>
            <a:ext cx="11582400" cy="411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b="1" sz="2700" i="0" u="none">
                <a:solidFill>
                  <a:srgbClr val="0F172A"/>
                </a:solidFill>
                <a:latin typeface="Space Grotesk"/>
              </a:rPr>
              <a:t>Clean 3-Tier System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163835"/>
            <a:ext cx="11582400" cy="2266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85"/>
              </a:lnSpc>
            </a:pPr>
            <a:r>
              <a:rPr b="0" sz="1275" i="0" u="none">
                <a:solidFill>
                  <a:srgbClr val="475569"/>
                </a:solidFill>
                <a:latin typeface="Inter"/>
              </a:rPr>
              <a:t>Engineered for low latency, modular maintenance, and zero data leakage across training and inference.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57200"/>
            <a:ext cx="2250281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3. DEMO &amp;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457200"/>
            <a:ext cx="228600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64748B"/>
                </a:solidFill>
                <a:latin typeface="JetBrains Mono"/>
              </a:rPr>
              <a:t>Key Technical Highlights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75" y="4702671"/>
            <a:ext cx="31877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64748B"/>
                </a:solidFill>
                <a:latin typeface="Inter"/>
              </a:rPr>
              <a:t>src/frontend/app/dashboard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824" y="4702671"/>
            <a:ext cx="31877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64748B"/>
                </a:solidFill>
                <a:latin typeface="Inter"/>
              </a:rPr>
              <a:t>src/backend/app/api/routes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0974" y="4702671"/>
            <a:ext cx="31877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64748B"/>
                </a:solidFill>
                <a:latin typeface="Inter"/>
              </a:rPr>
              <a:t>src/backend/app/ml/simulator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375" y="6124575"/>
            <a:ext cx="1500187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00" i="0" u="none">
                <a:solidFill>
                  <a:srgbClr val="0284C7"/>
                </a:solidFill>
                <a:latin typeface="JetBrains Mono"/>
              </a:rPr>
              <a:t>ENTERPRISE ROADMAP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" y="2793355"/>
            <a:ext cx="405890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Interactive Dispatch 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" y="3088630"/>
            <a:ext cx="3187749" cy="579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22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Next.js 14 web console featuring an interactive fleet map and a dedicated live vibration spectrum visualizer.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925" y="3878163"/>
            <a:ext cx="2997249" cy="519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sz="975" i="0" u="none">
                <a:solidFill>
                  <a:srgbClr val="334155"/>
                </a:solidFill>
                <a:latin typeface="Inter"/>
              </a:rPr>
              <a:t>• 60 FPS Tactical Fleet Radar</a:t>
            </a:r>
            <a:r>
              <a:t>
</a:t>
            </a:r>
            <a:r>
              <a:rPr b="0" sz="975" i="0" u="none">
                <a:solidFill>
                  <a:srgbClr val="334155"/>
                </a:solidFill>
                <a:latin typeface="Inter"/>
              </a:rPr>
              <a:t> • Live Bearing Vibration Canvas</a:t>
            </a:r>
            <a:r>
              <a:t>
</a:t>
            </a:r>
            <a:r>
              <a:rPr b="0" sz="975" i="0" u="none">
                <a:solidFill>
                  <a:srgbClr val="334155"/>
                </a:solidFill>
                <a:latin typeface="Inter"/>
              </a:rPr>
              <a:t> • Instant Flight Approval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9824" y="2793355"/>
            <a:ext cx="405890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High-Speed Clearance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9824" y="3088630"/>
            <a:ext cx="3187749" cy="579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22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FastAPI backend handling fleet status queries, telemetry verification, and real-time maintenance logging.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074" y="3878163"/>
            <a:ext cx="2997249" cy="519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sz="975" i="0" u="none">
                <a:solidFill>
                  <a:srgbClr val="334155"/>
                </a:solidFill>
                <a:latin typeface="Inter"/>
              </a:rPr>
              <a:t>• Sub-25ms response time</a:t>
            </a:r>
            <a:r>
              <a:t>
</a:t>
            </a:r>
            <a:r>
              <a:rPr b="0" sz="975" i="0" u="none">
                <a:solidFill>
                  <a:srgbClr val="334155"/>
                </a:solidFill>
                <a:latin typeface="Inter"/>
              </a:rPr>
              <a:t> • Strict role-based access control</a:t>
            </a:r>
            <a:r>
              <a:t>
</a:t>
            </a:r>
            <a:r>
              <a:rPr b="0" sz="975" i="0" u="none">
                <a:solidFill>
                  <a:srgbClr val="334155"/>
                </a:solidFill>
                <a:latin typeface="Inter"/>
              </a:rPr>
              <a:t> • Automated maintenance queue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0974" y="2793355"/>
            <a:ext cx="39210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Telemetry &amp; Wear Simulator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0974" y="3088630"/>
            <a:ext cx="3187749" cy="579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22"/>
              </a:lnSpc>
            </a:pPr>
            <a:r>
              <a:rPr b="0" sz="1050" i="0" u="none">
                <a:solidFill>
                  <a:srgbClr val="475569"/>
                </a:solidFill>
                <a:latin typeface="Inter"/>
              </a:rPr>
              <a:t>A physical simulation engine that models realistic component wear and sensor noise to continuously stress-test predictions.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224" y="3878163"/>
            <a:ext cx="2997249" cy="519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b="0" sz="975" i="0" u="none">
                <a:solidFill>
                  <a:srgbClr val="334155"/>
                </a:solidFill>
                <a:latin typeface="Inter"/>
              </a:rPr>
              <a:t>• Strict train/test temporal split</a:t>
            </a:r>
            <a:r>
              <a:t>
</a:t>
            </a:r>
            <a:r>
              <a:rPr b="0" sz="975" i="0" u="none">
                <a:solidFill>
                  <a:srgbClr val="334155"/>
                </a:solidFill>
                <a:latin typeface="Inter"/>
              </a:rPr>
              <a:t> • Bearing fatigue degradation model</a:t>
            </a:r>
            <a:r>
              <a:t>
</a:t>
            </a:r>
            <a:r>
              <a:rPr b="0" sz="975" i="0" u="none">
                <a:solidFill>
                  <a:srgbClr val="334155"/>
                </a:solidFill>
                <a:latin typeface="Inter"/>
              </a:rPr>
              <a:t> • Seed-controlled repeatable tests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675" y="2502842"/>
            <a:ext cx="61912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TIER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44874" y="2517130"/>
            <a:ext cx="8953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475569"/>
                </a:solidFill>
                <a:latin typeface="JetBrains Mono"/>
              </a:rPr>
              <a:t>UI / VISUALS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9824" y="2502842"/>
            <a:ext cx="63817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TIER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2699" y="2517130"/>
            <a:ext cx="828675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475569"/>
                </a:solidFill>
                <a:latin typeface="JetBrains Mono"/>
              </a:rPr>
              <a:t>BACKEND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0974" y="2502842"/>
            <a:ext cx="638175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975" i="0" u="none">
                <a:solidFill>
                  <a:srgbClr val="0284C7"/>
                </a:solidFill>
                <a:latin typeface="Space Grotesk"/>
              </a:rPr>
              <a:t>TIER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3823" y="2517130"/>
            <a:ext cx="1028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825" i="0" u="none">
                <a:solidFill>
                  <a:srgbClr val="475569"/>
                </a:solidFill>
                <a:latin typeface="JetBrains Mono"/>
              </a:rPr>
              <a:t>ML &amp; SIMULATOR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A29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